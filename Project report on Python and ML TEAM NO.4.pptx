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8288000" cy="10287000"/>
  <p:notesSz cx="6858000" cy="9144000"/>
  <p:embeddedFontLst>
    <p:embeddedFont>
      <p:font typeface="Old Standard Bold" charset="1" panose="02040503050505020303"/>
      <p:regular r:id="rId49"/>
    </p:embeddedFont>
    <p:embeddedFont>
      <p:font typeface="Times New Roman Bold" charset="1" panose="02030802070405020303"/>
      <p:regular r:id="rId50"/>
    </p:embeddedFont>
    <p:embeddedFont>
      <p:font typeface="Times New Roman Italics" charset="1" panose="02030502070405090303"/>
      <p:regular r:id="rId51"/>
    </p:embeddedFont>
    <p:embeddedFont>
      <p:font typeface="Cambria Bold" charset="1" panose="02040803050406030204"/>
      <p:regular r:id="rId52"/>
    </p:embeddedFont>
    <p:embeddedFont>
      <p:font typeface="Cambria Bold Italics" charset="1" panose="020408030504060A0204"/>
      <p:regular r:id="rId53"/>
    </p:embeddedFont>
    <p:embeddedFont>
      <p:font typeface="Cambria" charset="1" panose="02040503050406030204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528596" y="-958889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86377" y="2256558"/>
            <a:ext cx="11315247" cy="3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Old Standard Bold"/>
              </a:rPr>
              <a:t>PROJECT REPORT ON PYTHON &amp; MACHINE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4372" y="5843136"/>
            <a:ext cx="9339256" cy="81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Times New Roman Bold"/>
              </a:rPr>
              <a:t>COEP Technological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9368" y="7004008"/>
            <a:ext cx="7197206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545454"/>
                </a:solidFill>
                <a:latin typeface="Times New Roman Italics"/>
              </a:rPr>
              <a:t>14 June 2024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247525" y="-942269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1973" y="1280585"/>
            <a:ext cx="12044053" cy="122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Times New Roman Bold"/>
              </a:rPr>
              <a:t>OUR TEAM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45397" y="2823278"/>
            <a:ext cx="7197206" cy="65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sz="4000">
                <a:solidFill>
                  <a:srgbClr val="000000"/>
                </a:solidFill>
                <a:latin typeface="Times New Roman Bold"/>
              </a:rPr>
              <a:t>Team No. 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48983" y="4272380"/>
            <a:ext cx="5121027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545454"/>
                </a:solidFill>
                <a:latin typeface="Cambria Bold"/>
              </a:rPr>
              <a:t>Atharva</a:t>
            </a:r>
          </a:p>
          <a:p>
            <a:pPr algn="ctr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545454"/>
                </a:solidFill>
                <a:latin typeface="Cambria Bold"/>
              </a:rPr>
              <a:t>Pratik</a:t>
            </a:r>
          </a:p>
          <a:p>
            <a:pPr algn="ctr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545454"/>
                </a:solidFill>
                <a:latin typeface="Cambria Bold"/>
              </a:rPr>
              <a:t>Saurav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42104" y="2892413"/>
            <a:ext cx="13878437" cy="225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Old Standard Bold"/>
              </a:rPr>
              <a:t>LIBRARY MANAGEMENT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90768" y="5880052"/>
            <a:ext cx="9506464" cy="81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Times New Roman Bold"/>
              </a:rPr>
              <a:t>COEP Technological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9368" y="7004008"/>
            <a:ext cx="7197206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545454"/>
                </a:solidFill>
                <a:latin typeface="Times New Roman Italics"/>
              </a:rPr>
              <a:t>14 June 2024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4874" y="911220"/>
            <a:ext cx="9506464" cy="81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Times New Roman Bold"/>
              </a:rPr>
              <a:t>Python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533508" y="-171204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12995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INDEX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19773" y="1102859"/>
            <a:ext cx="6312991" cy="845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1. Introduction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2. Project Overview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3. Features and Functionality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4. Code Explanation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227C9D"/>
                </a:solidFill>
                <a:latin typeface="Cambria"/>
              </a:rPr>
              <a:t>        - Classes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227C9D"/>
                </a:solidFill>
                <a:latin typeface="Cambria"/>
              </a:rPr>
              <a:t>        - Functions and Methods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5. User Interfaces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227C9D"/>
                </a:solidFill>
                <a:latin typeface="Cambria"/>
              </a:rPr>
              <a:t>        - Initial Menu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227C9D"/>
                </a:solidFill>
                <a:latin typeface="Cambria"/>
              </a:rPr>
              <a:t>        - Admin Menu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227C9D"/>
                </a:solidFill>
                <a:latin typeface="Cambria"/>
              </a:rPr>
              <a:t>        - Patron Menu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6. File Operations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7. Security Measures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8. Future Enhancements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"/>
              </a:rPr>
              <a:t>9. Conclusion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639289" y="-1405278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6139" y="555726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727303" indent="-863651" lvl="1">
              <a:lnSpc>
                <a:spcPts val="8000"/>
              </a:lnSpc>
              <a:buAutoNum type="arabicPeriod" startAt="1"/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66022" y="3611880"/>
            <a:ext cx="11385839" cy="564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43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The Library Management System is a software application designed to facilitate the management of books and patrons within a library.</a:t>
            </a:r>
          </a:p>
          <a:p>
            <a:pPr algn="l" marL="863599" indent="-431800" lvl="1">
              <a:lnSpc>
                <a:spcPts val="443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 It provides functionalities for managing book inventories, patron records, borrowing, and returning books, and handling overdue fines. </a:t>
            </a:r>
          </a:p>
          <a:p>
            <a:pPr algn="l" marL="863599" indent="-431800" lvl="1">
              <a:lnSpc>
                <a:spcPts val="443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The system also supports basic authentication and role-based access control for patrons and administrators.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5397" y="2002847"/>
            <a:ext cx="1427633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 Bold Italics"/>
              </a:rPr>
              <a:t>Develop a library management system to manage 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 Bold Italics"/>
              </a:rPr>
              <a:t>books, patrons, and borrowing activities.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689145" y="-775469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4900" y="442204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2. </a:t>
            </a:r>
            <a:r>
              <a:rPr lang="en-US" sz="8000">
                <a:solidFill>
                  <a:srgbClr val="000000"/>
                </a:solidFill>
                <a:latin typeface="Cambria Bold Italics"/>
              </a:rPr>
              <a:t>PROJECT 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51901" y="3358381"/>
            <a:ext cx="12946097" cy="39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43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This system is built using Python and utilizes CSV files for data storage. </a:t>
            </a:r>
          </a:p>
          <a:p>
            <a:pPr algn="l" marL="863599" indent="-431800" lvl="1">
              <a:lnSpc>
                <a:spcPts val="443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It includes core functionalities like adding, viewing, searching, and deleting books and patrons, as well as borrowing and returning books.</a:t>
            </a:r>
          </a:p>
          <a:p>
            <a:pPr algn="l" marL="863599" indent="-431800" lvl="1">
              <a:lnSpc>
                <a:spcPts val="443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 It also manages overdue books and applies fines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564866" y="-150048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20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3. </a:t>
            </a:r>
            <a:r>
              <a:rPr lang="en-US" sz="8000">
                <a:solidFill>
                  <a:srgbClr val="000000"/>
                </a:solidFill>
                <a:latin typeface="Cambria Bold Italics"/>
              </a:rPr>
              <a:t>FEATURES &amp; FUNCTIONALITY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44690" y="4272380"/>
            <a:ext cx="8329612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545454"/>
                </a:solidFill>
                <a:latin typeface="Cambria Bold"/>
              </a:rPr>
              <a:t>Books</a:t>
            </a:r>
          </a:p>
          <a:p>
            <a:pPr algn="ctr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545454"/>
                </a:solidFill>
                <a:latin typeface="Cambria Bold"/>
              </a:rPr>
              <a:t>Patrons</a:t>
            </a:r>
          </a:p>
          <a:p>
            <a:pPr algn="ctr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545454"/>
                </a:solidFill>
                <a:latin typeface="Cambria Bold"/>
              </a:rPr>
              <a:t>Administration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321948" y="-166361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98633" y="3852934"/>
            <a:ext cx="9584802" cy="5811398"/>
          </a:xfrm>
          <a:custGeom>
            <a:avLst/>
            <a:gdLst/>
            <a:ahLst/>
            <a:cxnLst/>
            <a:rect r="r" b="b" t="t" l="l"/>
            <a:pathLst>
              <a:path h="5811398" w="9584802">
                <a:moveTo>
                  <a:pt x="0" y="0"/>
                </a:moveTo>
                <a:lnTo>
                  <a:pt x="9584802" y="0"/>
                </a:lnTo>
                <a:lnTo>
                  <a:pt x="9584802" y="5811398"/>
                </a:lnTo>
                <a:lnTo>
                  <a:pt x="0" y="58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2520" y="371552"/>
            <a:ext cx="11815722" cy="20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FEATURES &amp; FUNCTIONALITY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98349" y="2508339"/>
            <a:ext cx="426452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7499">
                <a:solidFill>
                  <a:srgbClr val="545454"/>
                </a:solidFill>
                <a:latin typeface="Cambria Bold"/>
              </a:rPr>
              <a:t>3.1 </a:t>
            </a:r>
            <a:r>
              <a:rPr lang="en-US" sz="7499">
                <a:solidFill>
                  <a:srgbClr val="545454"/>
                </a:solidFill>
                <a:latin typeface="Cambria Bold"/>
              </a:rPr>
              <a:t>Books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901" y="4300164"/>
            <a:ext cx="7285094" cy="35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Add, view, search, delete books.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Borrow and return books.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Manage book reviews.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321948" y="-1413320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20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FEATURES &amp; FUNCTIONALITY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4603" y="2954475"/>
            <a:ext cx="499467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7499">
                <a:solidFill>
                  <a:srgbClr val="545454"/>
                </a:solidFill>
                <a:latin typeface="Cambria Bold"/>
              </a:rPr>
              <a:t>3.2 Patrons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92661" y="4682680"/>
            <a:ext cx="1067365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Register and manage patrons.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Login and logout functionality.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Role-based access (Admin/Patron).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591311" y="-2324948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20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FEATURES &amp; FUNCTIONALITY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37717" y="2954475"/>
            <a:ext cx="826844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7499">
                <a:solidFill>
                  <a:srgbClr val="545454"/>
                </a:solidFill>
                <a:latin typeface="Cambria Bold"/>
              </a:rPr>
              <a:t>3.3 Administration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83956" y="4682680"/>
            <a:ext cx="1018163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Manage book inventory.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View and manage patron records.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Check and handle overdue books.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146657" y="-163737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 4. CODE EXPLANATION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94233" y="2736816"/>
            <a:ext cx="470252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7499">
                <a:solidFill>
                  <a:srgbClr val="545454"/>
                </a:solidFill>
                <a:latin typeface="Cambria Bold"/>
              </a:rPr>
              <a:t>1. CLASSES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33188" y="4241764"/>
            <a:ext cx="4649391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Book</a:t>
            </a:r>
          </a:p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Patron</a:t>
            </a:r>
          </a:p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Library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CODE EXPLANATION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50594" y="2997664"/>
            <a:ext cx="14386813" cy="3037257"/>
            <a:chOff x="0" y="0"/>
            <a:chExt cx="19182417" cy="404967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9182417" cy="1977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84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Cambria Bold"/>
                </a:rPr>
                <a:t>Purpose</a:t>
              </a:r>
              <a:r>
                <a:rPr lang="en-US" sz="3499">
                  <a:solidFill>
                    <a:srgbClr val="000000"/>
                  </a:solidFill>
                  <a:latin typeface="Cambria"/>
                </a:rPr>
                <a:t>: The Book class represents a book in a library or inventory system, capturing essential details about the book such as its ID, title, author, quantity, cost, due date, and reviews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99783" y="2072286"/>
              <a:ext cx="15182850" cy="1977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47" indent="-377824" lvl="1">
                <a:lnSpc>
                  <a:spcPts val="3884"/>
                </a:lnSpc>
                <a:buFont typeface="Arial"/>
                <a:buChar char="•"/>
              </a:pPr>
              <a:r>
                <a:rPr lang="en-US" sz="3499">
                  <a:solidFill>
                    <a:srgbClr val="000000"/>
                  </a:solidFill>
                  <a:latin typeface="Cambria Bold"/>
                </a:rPr>
                <a:t>Attributes</a:t>
              </a:r>
              <a:r>
                <a:rPr lang="en-US" sz="3499">
                  <a:solidFill>
                    <a:srgbClr val="000000"/>
                  </a:solidFill>
                  <a:latin typeface="Cambria"/>
                </a:rPr>
                <a:t>: book_id, title, author, quantity, Cost, due_date, reviews.</a:t>
              </a:r>
            </a:p>
            <a:p>
              <a:pPr algn="l" marL="755647" indent="-377824" lvl="1">
                <a:lnSpc>
                  <a:spcPts val="3884"/>
                </a:lnSpc>
                <a:buFont typeface="Arial"/>
                <a:buChar char="•"/>
              </a:pPr>
              <a:r>
                <a:rPr lang="en-US" sz="3499">
                  <a:solidFill>
                    <a:srgbClr val="000000"/>
                  </a:solidFill>
                  <a:latin typeface="Cambria Bold"/>
                </a:rPr>
                <a:t>Methods</a:t>
              </a:r>
              <a:r>
                <a:rPr lang="en-US" sz="3499">
                  <a:solidFill>
                    <a:srgbClr val="000000"/>
                  </a:solidFill>
                  <a:latin typeface="Cambria"/>
                </a:rPr>
                <a:t>: add_review, display_reviews.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115362" y="1682863"/>
            <a:ext cx="460905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4.1.1 BOOK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CODE EXPLANATION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2520" y="3260833"/>
            <a:ext cx="11387138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3884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mbria Bold"/>
              </a:rPr>
              <a:t>Purpose</a:t>
            </a:r>
            <a:r>
              <a:rPr lang="en-US" sz="3499">
                <a:solidFill>
                  <a:srgbClr val="000000"/>
                </a:solidFill>
                <a:latin typeface="Cambria"/>
              </a:rPr>
              <a:t>: The Patron class represents a user (patron) in a library, capturing essential details such as the user's ID, name, email, password, and role.</a:t>
            </a:r>
          </a:p>
          <a:p>
            <a:pPr algn="l" marL="755647" indent="-377824" lvl="1">
              <a:lnSpc>
                <a:spcPts val="3884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mbria Bold"/>
              </a:rPr>
              <a:t>Attributes</a:t>
            </a:r>
            <a:r>
              <a:rPr lang="en-US" sz="3499">
                <a:solidFill>
                  <a:srgbClr val="000000"/>
                </a:solidFill>
                <a:latin typeface="Cambria"/>
              </a:rPr>
              <a:t>: patron_id, name, email, password, role.</a:t>
            </a:r>
          </a:p>
          <a:p>
            <a:pPr algn="l">
              <a:lnSpc>
                <a:spcPts val="38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47955" y="1682863"/>
            <a:ext cx="574387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4.1.2 PATRON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CODE EXPLANATION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62590" y="1682863"/>
            <a:ext cx="611460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4.1.3 LIBRARY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4617" y="3264694"/>
            <a:ext cx="13210548" cy="310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mbria Bold"/>
              </a:rPr>
              <a:t>Purpose</a:t>
            </a:r>
            <a:r>
              <a:rPr lang="en-US" sz="3500">
                <a:solidFill>
                  <a:srgbClr val="000000"/>
                </a:solidFill>
                <a:latin typeface="Cambria"/>
              </a:rPr>
              <a:t>: The library class manages a collection of books, patrons, and the borrowing status of books, providing methods for loading and managing these entities.</a:t>
            </a:r>
          </a:p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mbria Bold"/>
              </a:rPr>
              <a:t>Attributes</a:t>
            </a:r>
            <a:r>
              <a:rPr lang="en-US" sz="3500">
                <a:solidFill>
                  <a:srgbClr val="000000"/>
                </a:solidFill>
                <a:latin typeface="Cambria"/>
              </a:rPr>
              <a:t>: books, patrons, borrowed_books, current_patron.</a:t>
            </a:r>
          </a:p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mbria Bold"/>
              </a:rPr>
              <a:t>Methods</a:t>
            </a:r>
            <a:r>
              <a:rPr lang="en-US" sz="3500">
                <a:solidFill>
                  <a:srgbClr val="000000"/>
                </a:solidFill>
                <a:latin typeface="Cambria"/>
              </a:rPr>
              <a:t>: Various methods for loading/saving data, adding/viewing/deleting books and patrons, borrowing/returning books, handling overdue books, etc.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CODE EXPLANATION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12740" y="1941392"/>
            <a:ext cx="111597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7499">
                <a:solidFill>
                  <a:srgbClr val="545454"/>
                </a:solidFill>
                <a:latin typeface="Cambria Bold"/>
              </a:rPr>
              <a:t>2. Functions and Methods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2520" y="3705893"/>
            <a:ext cx="10593586" cy="481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19250" indent="-809625" lvl="1">
              <a:lnSpc>
                <a:spcPts val="7500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Data Management</a:t>
            </a:r>
          </a:p>
          <a:p>
            <a:pPr algn="l" marL="1619250" indent="-809625" lvl="1">
              <a:lnSpc>
                <a:spcPts val="7500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Operations</a:t>
            </a:r>
          </a:p>
          <a:p>
            <a:pPr algn="l" marL="1619250" indent="-809625" lvl="1">
              <a:lnSpc>
                <a:spcPts val="7500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Patron Management</a:t>
            </a:r>
          </a:p>
          <a:p>
            <a:pPr algn="l" marL="1619250" indent="-809625" lvl="1">
              <a:lnSpc>
                <a:spcPts val="7500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Borrow/Return Book</a:t>
            </a:r>
          </a:p>
          <a:p>
            <a:pPr algn="l" marL="1619250" indent="-809625" lvl="1">
              <a:lnSpc>
                <a:spcPts val="7500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Overdue Management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5. USER INTERFACES</a:t>
            </a:r>
          </a:p>
        </p:txBody>
      </p:sp>
      <p:sp>
        <p:nvSpPr>
          <p:cNvPr name="AutoShape 4" id="4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5417" y="3365379"/>
            <a:ext cx="7097167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Initial Menu</a:t>
            </a:r>
          </a:p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Admin Menu </a:t>
            </a:r>
          </a:p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Patron Menu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528596" y="-1346087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96333" y="6565779"/>
            <a:ext cx="7934010" cy="3294855"/>
          </a:xfrm>
          <a:custGeom>
            <a:avLst/>
            <a:gdLst/>
            <a:ahLst/>
            <a:cxnLst/>
            <a:rect r="r" b="b" t="t" l="l"/>
            <a:pathLst>
              <a:path h="3294855" w="7934010">
                <a:moveTo>
                  <a:pt x="0" y="0"/>
                </a:moveTo>
                <a:lnTo>
                  <a:pt x="7934010" y="0"/>
                </a:lnTo>
                <a:lnTo>
                  <a:pt x="7934010" y="3294855"/>
                </a:lnTo>
                <a:lnTo>
                  <a:pt x="0" y="3294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USER INTERFACE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27751" y="1682863"/>
            <a:ext cx="638428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5.1 Initial Menu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5310" y="3035413"/>
            <a:ext cx="12105170" cy="318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Provides options to register or log in: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1. Register Patron/Admin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2. Login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3. Exit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16887" y="3087686"/>
            <a:ext cx="5164797" cy="6727828"/>
          </a:xfrm>
          <a:custGeom>
            <a:avLst/>
            <a:gdLst/>
            <a:ahLst/>
            <a:cxnLst/>
            <a:rect r="r" b="b" t="t" l="l"/>
            <a:pathLst>
              <a:path h="6727828" w="5164797">
                <a:moveTo>
                  <a:pt x="0" y="0"/>
                </a:moveTo>
                <a:lnTo>
                  <a:pt x="5164797" y="0"/>
                </a:lnTo>
                <a:lnTo>
                  <a:pt x="5164797" y="6727828"/>
                </a:lnTo>
                <a:lnTo>
                  <a:pt x="0" y="6727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USER INTERFACE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67632" y="1530350"/>
            <a:ext cx="667925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5.2 Admin Menu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3967" y="2701925"/>
            <a:ext cx="8187333" cy="758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Available to logged-in admins: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1. Add Book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2. View Books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3. Search a Book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4. Delete Book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5. Add Patron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6. View Patrons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7. Delete Patron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8. Check Overdue Books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9. Logout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10. Exit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53926" y="3385569"/>
            <a:ext cx="5870398" cy="5977620"/>
          </a:xfrm>
          <a:custGeom>
            <a:avLst/>
            <a:gdLst/>
            <a:ahLst/>
            <a:cxnLst/>
            <a:rect r="r" b="b" t="t" l="l"/>
            <a:pathLst>
              <a:path h="5977620" w="5870398">
                <a:moveTo>
                  <a:pt x="0" y="0"/>
                </a:moveTo>
                <a:lnTo>
                  <a:pt x="5870398" y="0"/>
                </a:lnTo>
                <a:lnTo>
                  <a:pt x="5870398" y="5977619"/>
                </a:lnTo>
                <a:lnTo>
                  <a:pt x="0" y="5977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USER INTERFACE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55855" y="1682863"/>
            <a:ext cx="672807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5.3 Patron Menu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8892" y="3035413"/>
            <a:ext cx="8297912" cy="63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</a:rPr>
              <a:t>Available to logged-in patrons:</a:t>
            </a:r>
          </a:p>
          <a:p>
            <a:pPr algn="l">
              <a:lnSpc>
                <a:spcPts val="5000"/>
              </a:lnSpc>
            </a:pP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1. View Books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2. Search a Book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3. Borrow Book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4. Return Book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5. Review Book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6. Check Overdue Books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7. Logout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8. Exit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607931" y="-1663821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6. FILE OPERATIONS</a:t>
            </a:r>
          </a:p>
        </p:txBody>
      </p:sp>
      <p:sp>
        <p:nvSpPr>
          <p:cNvPr name="AutoShape 4" id="4"/>
          <p:cNvSpPr/>
          <p:nvPr/>
        </p:nvSpPr>
        <p:spPr>
          <a:xfrm>
            <a:off x="-3889917" y="-413051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09603" y="2536704"/>
            <a:ext cx="15117271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The system uses CSV files for data persistence: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1. books.csv: Stores book details. 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   - Fields: book_id, title, author, quantity, Cost, reviews, due_date.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2. patrons.csv: Stores patron details. 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   - Fields: patron_id, name, email, password, role.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3. borrowed_books.csv: Stores borrowing records 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  <a:sym typeface="Cambria"/>
              </a:rPr>
              <a:t>   - Fields: patron_id, book_id, due_date.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586398" y="-1372925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2520" y="371552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7. </a:t>
            </a:r>
            <a:r>
              <a:rPr lang="en-US" sz="8000">
                <a:solidFill>
                  <a:srgbClr val="000000"/>
                </a:solidFill>
                <a:latin typeface="Cambria Bold Italics"/>
              </a:rPr>
              <a:t>SECURITY MEASURES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25862" y="3752057"/>
            <a:ext cx="13061007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19250" indent="-809625" lvl="1">
              <a:lnSpc>
                <a:spcPts val="8325"/>
              </a:lnSpc>
              <a:buAutoNum type="arabicPeriod" startAt="1"/>
            </a:pPr>
            <a:r>
              <a:rPr lang="en-US" sz="7500">
                <a:solidFill>
                  <a:srgbClr val="227C9D"/>
                </a:solidFill>
                <a:latin typeface="Cambria"/>
              </a:rPr>
              <a:t>Password Hashing</a:t>
            </a:r>
          </a:p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227C9D"/>
                </a:solidFill>
                <a:latin typeface="Cambria"/>
              </a:rPr>
              <a:t>         </a:t>
            </a:r>
            <a:r>
              <a:rPr lang="en-US" sz="3500">
                <a:solidFill>
                  <a:srgbClr val="000000"/>
                </a:solidFill>
                <a:latin typeface="Cambria"/>
              </a:rPr>
              <a:t>hash_password = hash.sha256(password.encode()).hexdigest()  </a:t>
            </a:r>
          </a:p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000000"/>
                </a:solidFill>
                <a:latin typeface="Cambria"/>
              </a:rPr>
              <a:t>         # converted into hash.                </a:t>
            </a:r>
          </a:p>
          <a:p>
            <a:pPr algn="l">
              <a:lnSpc>
                <a:spcPts val="8325"/>
              </a:lnSpc>
            </a:pPr>
            <a:r>
              <a:rPr lang="en-US" sz="7500">
                <a:solidFill>
                  <a:srgbClr val="227C9D"/>
                </a:solidFill>
                <a:latin typeface="Cambria"/>
              </a:rPr>
              <a:t>   2.</a:t>
            </a:r>
            <a:r>
              <a:rPr lang="en-US" sz="7500">
                <a:solidFill>
                  <a:srgbClr val="227C9D"/>
                </a:solidFill>
                <a:latin typeface="Cambria"/>
              </a:rPr>
              <a:t>Role Based Access Control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502819" y="-658909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41726" y="565144"/>
            <a:ext cx="13604549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8. </a:t>
            </a:r>
            <a:r>
              <a:rPr lang="en-US" sz="8000">
                <a:solidFill>
                  <a:srgbClr val="000000"/>
                </a:solidFill>
                <a:latin typeface="Cambria Bold Italics"/>
              </a:rPr>
              <a:t>FUTURE ENHANCEMENTS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37480" y="2874487"/>
            <a:ext cx="15430723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Enhanced User Interface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Email verification function.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Password change option.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Borrow book limit per patron.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In search a book option different genres can be added.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Searching a book using ID or words used in the title. </a:t>
            </a:r>
          </a:p>
          <a:p>
            <a:pPr algn="l" marL="1079501" indent="-539750" lvl="1">
              <a:lnSpc>
                <a:spcPts val="5550"/>
              </a:lnSpc>
              <a:buFont typeface="Arial"/>
              <a:buChar char="•"/>
            </a:pPr>
            <a:r>
              <a:rPr lang="en-US" sz="5000">
                <a:solidFill>
                  <a:srgbClr val="227C9D"/>
                </a:solidFill>
                <a:latin typeface="Cambria"/>
              </a:rPr>
              <a:t>Fine Calculation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374838" y="-2034052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3654" y="194706"/>
            <a:ext cx="10863699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9. </a:t>
            </a:r>
            <a:r>
              <a:rPr lang="en-US" sz="8000">
                <a:solidFill>
                  <a:srgbClr val="000000"/>
                </a:solidFill>
                <a:latin typeface="Cambria Bold Italics"/>
              </a:rPr>
              <a:t>CHALLENGES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24444" y="3860766"/>
            <a:ext cx="16163556" cy="337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6660"/>
              </a:lnSpc>
              <a:buFont typeface="Arial"/>
              <a:buChar char="•"/>
            </a:pPr>
            <a:r>
              <a:rPr lang="en-US" sz="6000">
                <a:solidFill>
                  <a:srgbClr val="227C9D"/>
                </a:solidFill>
                <a:latin typeface="Cambria"/>
              </a:rPr>
              <a:t>Password Storage in Hash Form</a:t>
            </a:r>
          </a:p>
          <a:p>
            <a:pPr algn="l" marL="1295400" indent="-647700" lvl="1">
              <a:lnSpc>
                <a:spcPts val="6660"/>
              </a:lnSpc>
              <a:buFont typeface="Arial"/>
              <a:buChar char="•"/>
            </a:pPr>
            <a:r>
              <a:rPr lang="en-US" sz="6000">
                <a:solidFill>
                  <a:srgbClr val="227C9D"/>
                </a:solidFill>
                <a:latin typeface="Cambria"/>
              </a:rPr>
              <a:t>Upper and Lower Case Management in Searching</a:t>
            </a:r>
          </a:p>
          <a:p>
            <a:pPr algn="l" marL="1295400" indent="-647700" lvl="1">
              <a:lnSpc>
                <a:spcPts val="6660"/>
              </a:lnSpc>
              <a:buFont typeface="Arial"/>
              <a:buChar char="•"/>
            </a:pPr>
            <a:r>
              <a:rPr lang="en-US" sz="6000">
                <a:solidFill>
                  <a:srgbClr val="227C9D"/>
                </a:solidFill>
                <a:latin typeface="Cambria"/>
              </a:rPr>
              <a:t>Compact and Efficient Code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374838" y="-2034052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3654" y="194706"/>
            <a:ext cx="10863699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10. 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68381" y="2833354"/>
            <a:ext cx="15151238" cy="947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Cambria"/>
              </a:rPr>
              <a:t>By tackling these challenges, we improved our understanding of functions, code management, and CSV file usage. We also learned to effectively link and organize menu systems for a better user interface. Overall, the Library Management System project enhanced our technical skills, problem-solving abilities, and understanding of software development best practices, providing a solid foundation for future projects.</a:t>
            </a:r>
          </a:p>
          <a:p>
            <a:pPr algn="ctr">
              <a:lnSpc>
                <a:spcPts val="5000"/>
              </a:lnSpc>
            </a:pPr>
          </a:p>
          <a:p>
            <a:pPr algn="ctr">
              <a:lnSpc>
                <a:spcPts val="5000"/>
              </a:lnSpc>
            </a:pPr>
          </a:p>
          <a:p>
            <a:pPr algn="ctr">
              <a:lnSpc>
                <a:spcPts val="5000"/>
              </a:lnSpc>
            </a:pPr>
          </a:p>
          <a:p>
            <a:pPr algn="ctr">
              <a:lnSpc>
                <a:spcPts val="5000"/>
              </a:lnSpc>
            </a:pPr>
          </a:p>
          <a:p>
            <a:pPr algn="ctr">
              <a:lnSpc>
                <a:spcPts val="5000"/>
              </a:lnSpc>
            </a:pPr>
          </a:p>
          <a:p>
            <a:pPr algn="ctr">
              <a:lnSpc>
                <a:spcPts val="500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374838" y="-2034052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757175" y="479504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7956" y="3904947"/>
            <a:ext cx="15914706" cy="154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000000"/>
                </a:solidFill>
                <a:latin typeface="Old Standard Bold"/>
              </a:rPr>
              <a:t>THANK YOU!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9248" y="3594101"/>
            <a:ext cx="15914706" cy="154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000000"/>
                </a:solidFill>
                <a:latin typeface="Old Standard Bold"/>
              </a:rPr>
              <a:t>CHAT GPT REVIEWS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90768" y="5880052"/>
            <a:ext cx="9506464" cy="81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Times New Roman Bold"/>
              </a:rPr>
              <a:t>COEP Technological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9368" y="7004008"/>
            <a:ext cx="7197206" cy="4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545454"/>
                </a:solidFill>
                <a:latin typeface="Times New Roman Italics"/>
              </a:rPr>
              <a:t>14 June 2024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4874" y="911220"/>
            <a:ext cx="9506464" cy="81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Times New Roman Bold"/>
              </a:rPr>
              <a:t>Machine Learning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639289" y="-1405278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6139" y="555726"/>
            <a:ext cx="11815722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727303" indent="-863651" lvl="1">
              <a:lnSpc>
                <a:spcPts val="8000"/>
              </a:lnSpc>
              <a:buAutoNum type="arabicPeriod" startAt="1"/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7181" y="2105463"/>
            <a:ext cx="16304620" cy="758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Cambria Bold Italics"/>
              </a:rPr>
              <a:t>Title: ChatGPT Android App Review Analysis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Content: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</a:p>
          <a:p>
            <a:pPr algn="l" marL="1079501" indent="-539750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The ChatGPT Android App leverages OpenAI’s conversational AI, ChatGPT.</a:t>
            </a:r>
          </a:p>
          <a:p>
            <a:pPr algn="l" marL="1079501" indent="-539750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Importance of user reviews for feedback and improvements.</a:t>
            </a:r>
          </a:p>
          <a:p>
            <a:pPr algn="l" marL="1079501" indent="-539750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Project aims to analyze reviews to understand user sentiment and predict trends.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3812" y="2715909"/>
            <a:ext cx="15405488" cy="659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Problem Statement: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Analyzing user reviews and ratings of the ChatGPT Android App.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Key objectives include visualizing the dataset, understanding its creation, applying machine learning techniques, and reporting results.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Objectives: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Visualize the dataset for distribution and trends.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Explore dataset creation motivations.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Apply machine learning techniques (linear regression, logistic regression, neural networks).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Interpret and report analysis results.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6139" y="555726"/>
            <a:ext cx="11815722" cy="20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2. PROBLEM STATEMENT &amp; OBJECTIVES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6702" y="2660650"/>
            <a:ext cx="15352598" cy="659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Scope:</a:t>
            </a:r>
          </a:p>
          <a:p>
            <a:pPr algn="l">
              <a:lnSpc>
                <a:spcPts val="3999"/>
              </a:lnSpc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Data cleaning, visualization, and machine learning techniques.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Aim: Improve user experience and sentiment understanding.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Methodology:</a:t>
            </a:r>
          </a:p>
          <a:p>
            <a:pPr algn="l">
              <a:lnSpc>
                <a:spcPts val="3999"/>
              </a:lnSpc>
            </a:pP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Data Collection: From Kaggle, “ChatGPT Reviews - Daily Updated”.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Data Preprocessing: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Remove duplicates and irrelevant columns.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Handle missing values by imputing.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Tools &amp; Technologies: Pandas, Matplotlib, Seaborn, Scikit-learn, TensorFlow/Keras, WordCloud, Numpy.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3. SCOPE AND METHODOLOGY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9435" y="397056"/>
            <a:ext cx="14645343" cy="20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4. MODEL SELECTION AND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8563" y="3451189"/>
            <a:ext cx="16689437" cy="558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Models Selected: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Logistic Regression - Classify reviews into high/low scores.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Linear Regression - Predict exact rating scores.</a:t>
            </a:r>
          </a:p>
          <a:p>
            <a:pPr algn="l" marL="863599" indent="-431800" lvl="1">
              <a:lnSpc>
                <a:spcPts val="39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Neural Network - Capture non-linear relationships for better predictions.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Implementation: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Logistic Regression: TF-IDF, training, predictions.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Linear Regression: Predict scores, training, predictions.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Neural Network: Build, train, and predict review scores.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95841" y="4693388"/>
            <a:ext cx="10296319" cy="5307176"/>
          </a:xfrm>
          <a:custGeom>
            <a:avLst/>
            <a:gdLst/>
            <a:ahLst/>
            <a:cxnLst/>
            <a:rect r="r" b="b" t="t" l="l"/>
            <a:pathLst>
              <a:path h="5307176" w="10296319">
                <a:moveTo>
                  <a:pt x="0" y="0"/>
                </a:moveTo>
                <a:lnTo>
                  <a:pt x="10296318" y="0"/>
                </a:lnTo>
                <a:lnTo>
                  <a:pt x="10296318" y="5307176"/>
                </a:lnTo>
                <a:lnTo>
                  <a:pt x="0" y="5307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5. DATA VISUALIZATION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7978" y="2086714"/>
            <a:ext cx="14019907" cy="205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Word Cloud: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Visual representation of the most frequent words in reviews.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Code snippet to generate word cloud.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18847" y="4373454"/>
            <a:ext cx="6804063" cy="5559740"/>
          </a:xfrm>
          <a:custGeom>
            <a:avLst/>
            <a:gdLst/>
            <a:ahLst/>
            <a:cxnLst/>
            <a:rect r="r" b="b" t="t" l="l"/>
            <a:pathLst>
              <a:path h="5559740" w="6804063">
                <a:moveTo>
                  <a:pt x="0" y="0"/>
                </a:moveTo>
                <a:lnTo>
                  <a:pt x="6804064" y="0"/>
                </a:lnTo>
                <a:lnTo>
                  <a:pt x="6804064" y="5559741"/>
                </a:lnTo>
                <a:lnTo>
                  <a:pt x="0" y="5559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5. DATA VISUALIZATION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4684" y="1095375"/>
            <a:ext cx="13578632" cy="306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Correlation Heatmap: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Shows relationship between review scores and thumbs up.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Code snippet for heatmap generation.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8880" y="2042693"/>
            <a:ext cx="12558452" cy="7845304"/>
          </a:xfrm>
          <a:custGeom>
            <a:avLst/>
            <a:gdLst/>
            <a:ahLst/>
            <a:cxnLst/>
            <a:rect r="r" b="b" t="t" l="l"/>
            <a:pathLst>
              <a:path h="7845304" w="12558452">
                <a:moveTo>
                  <a:pt x="0" y="0"/>
                </a:moveTo>
                <a:lnTo>
                  <a:pt x="12558452" y="0"/>
                </a:lnTo>
                <a:lnTo>
                  <a:pt x="12558452" y="7845304"/>
                </a:lnTo>
                <a:lnTo>
                  <a:pt x="0" y="7845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5. DATA VISUALIZATION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31384" y="1845639"/>
            <a:ext cx="13025232" cy="7877164"/>
          </a:xfrm>
          <a:custGeom>
            <a:avLst/>
            <a:gdLst/>
            <a:ahLst/>
            <a:cxnLst/>
            <a:rect r="r" b="b" t="t" l="l"/>
            <a:pathLst>
              <a:path h="7877164" w="13025232">
                <a:moveTo>
                  <a:pt x="0" y="0"/>
                </a:moveTo>
                <a:lnTo>
                  <a:pt x="13025232" y="0"/>
                </a:lnTo>
                <a:lnTo>
                  <a:pt x="13025232" y="7877164"/>
                </a:lnTo>
                <a:lnTo>
                  <a:pt x="0" y="7877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5. DATA VISUALIZATION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01340" y="1719710"/>
            <a:ext cx="7685320" cy="8026201"/>
          </a:xfrm>
          <a:custGeom>
            <a:avLst/>
            <a:gdLst/>
            <a:ahLst/>
            <a:cxnLst/>
            <a:rect r="r" b="b" t="t" l="l"/>
            <a:pathLst>
              <a:path h="8026201" w="7685320">
                <a:moveTo>
                  <a:pt x="0" y="0"/>
                </a:moveTo>
                <a:lnTo>
                  <a:pt x="7685320" y="0"/>
                </a:lnTo>
                <a:lnTo>
                  <a:pt x="7685320" y="8026202"/>
                </a:lnTo>
                <a:lnTo>
                  <a:pt x="0" y="8026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5. DATA VISUALIZATION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9435" y="397056"/>
            <a:ext cx="15861816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6. EXPERIMENTATION &amp; RESULT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67405" y="3451189"/>
            <a:ext cx="11677799" cy="508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Experimental Setup: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Data split into training and testing sets.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Standardized data for uniformity.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Evaluation Metrics</a:t>
            </a:r>
            <a:r>
              <a:rPr lang="en-US" sz="3999">
                <a:solidFill>
                  <a:srgbClr val="000000"/>
                </a:solidFill>
                <a:latin typeface="Cambria"/>
              </a:rPr>
              <a:t>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Accuracy for classification.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Mean Squared Error (MSE) for regression models.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Confusion Matrix for classification evaluation.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36139" y="2382838"/>
            <a:ext cx="11082264" cy="558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Performance Metrics: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Logistic Regression Accuracy: 91%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Linear Regression MSE: 0.72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Neural Network MSE: 0.78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mbria Bold Italics"/>
              </a:rPr>
              <a:t>Classification Report for Logistic Regression: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High precision, recall, and F1-score for class 1.</a:t>
            </a:r>
          </a:p>
          <a:p>
            <a:pPr algn="l" marL="863599" indent="-431800" lvl="1">
              <a:lnSpc>
                <a:spcPts val="3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</a:rPr>
              <a:t>Lower performance for class 0.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7. RESULTS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05899" y="2551339"/>
            <a:ext cx="14552214" cy="5968334"/>
          </a:xfrm>
          <a:custGeom>
            <a:avLst/>
            <a:gdLst/>
            <a:ahLst/>
            <a:cxnLst/>
            <a:rect r="r" b="b" t="t" l="l"/>
            <a:pathLst>
              <a:path h="5968334" w="14552214">
                <a:moveTo>
                  <a:pt x="0" y="0"/>
                </a:moveTo>
                <a:lnTo>
                  <a:pt x="14552213" y="0"/>
                </a:lnTo>
                <a:lnTo>
                  <a:pt x="14552213" y="5968334"/>
                </a:lnTo>
                <a:lnTo>
                  <a:pt x="0" y="596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59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7. RESULTS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8. DISCUSSION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0278" y="3916363"/>
            <a:ext cx="17407722" cy="381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 Bold Italics"/>
              </a:rPr>
              <a:t>Insights: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</a:p>
          <a:p>
            <a:pPr algn="l" marL="1079501" indent="-539750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Logistic regression effective for classification tasks.</a:t>
            </a:r>
          </a:p>
          <a:p>
            <a:pPr algn="l" marL="1079501" indent="-539750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Neural network better for predicting scores.</a:t>
            </a:r>
          </a:p>
          <a:p>
            <a:pPr algn="l" marL="1079501" indent="-539750" lvl="1">
              <a:lnSpc>
                <a:spcPts val="5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mbria"/>
              </a:rPr>
              <a:t>Useful insights for improving app features and user experience.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9.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" y="1533718"/>
            <a:ext cx="17259300" cy="8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Cambria Bold Italics"/>
              </a:rPr>
              <a:t>Summary: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ambria"/>
              </a:rPr>
              <a:t>Analysis provided valuable insights into user sentiment and app performance.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ambria"/>
              </a:rPr>
              <a:t>Visualization techniques aided understanding of data distribution and relationships.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ambria"/>
              </a:rPr>
              <a:t>Machine learning models effective in classifying and predicting review scores.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Cambria Bold Italics"/>
              </a:rPr>
              <a:t>Future Work: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ambria"/>
              </a:rPr>
              <a:t>Explore advanced models and techniques.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Cambria"/>
              </a:rPr>
              <a:t>Real-time analysis and automated feedback systems for instant insights.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9435" y="397056"/>
            <a:ext cx="14645343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Cambria Bold Italics"/>
              </a:rPr>
              <a:t>10. REFRENCES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8921" y="2601125"/>
            <a:ext cx="5260628" cy="63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 Bold Italics"/>
              </a:rPr>
              <a:t>Kaggle dataset: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 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 Bold Italics"/>
              </a:rPr>
              <a:t>Documentation: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 Bold Italics"/>
              </a:rPr>
              <a:t> </a:t>
            </a:r>
            <a:r>
              <a:rPr lang="en-US" sz="5000">
                <a:solidFill>
                  <a:srgbClr val="000000"/>
                </a:solidFill>
                <a:latin typeface="Cambria"/>
              </a:rPr>
              <a:t>Pandas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Matplotlib,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Seaborn,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Scikit-learn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 TensorFlow/Keras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 WordCloud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mbria"/>
              </a:rPr>
              <a:t> Numpy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2902" y="65919"/>
            <a:ext cx="10642196" cy="9458252"/>
          </a:xfrm>
          <a:custGeom>
            <a:avLst/>
            <a:gdLst/>
            <a:ahLst/>
            <a:cxnLst/>
            <a:rect r="r" b="b" t="t" l="l"/>
            <a:pathLst>
              <a:path h="9458252" w="10642196">
                <a:moveTo>
                  <a:pt x="0" y="0"/>
                </a:moveTo>
                <a:lnTo>
                  <a:pt x="10642196" y="0"/>
                </a:lnTo>
                <a:lnTo>
                  <a:pt x="10642196" y="9458251"/>
                </a:lnTo>
                <a:lnTo>
                  <a:pt x="0" y="945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607931" y="-730286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9" y="0"/>
                </a:lnTo>
                <a:lnTo>
                  <a:pt x="985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60499" y="4693934"/>
            <a:ext cx="9855808" cy="8229600"/>
          </a:xfrm>
          <a:custGeom>
            <a:avLst/>
            <a:gdLst/>
            <a:ahLst/>
            <a:cxnLst/>
            <a:rect r="r" b="b" t="t" l="l"/>
            <a:pathLst>
              <a:path h="8229600" w="9855808">
                <a:moveTo>
                  <a:pt x="0" y="0"/>
                </a:moveTo>
                <a:lnTo>
                  <a:pt x="9855808" y="0"/>
                </a:lnTo>
                <a:lnTo>
                  <a:pt x="9855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7956" y="3904947"/>
            <a:ext cx="15914706" cy="154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000000"/>
                </a:solidFill>
                <a:latin typeface="Old Standard Bold"/>
              </a:rPr>
              <a:t>THANK YOU!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3654" y="194706"/>
            <a:ext cx="10863699" cy="106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DAGIFtr1g9Y</dc:identifier>
  <dcterms:modified xsi:type="dcterms:W3CDTF">2011-08-01T06:04:30Z</dcterms:modified>
  <cp:revision>1</cp:revision>
  <dc:title>Project report on Python and M</dc:title>
</cp:coreProperties>
</file>